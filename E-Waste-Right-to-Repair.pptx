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specific place in your home — the junk drawer, the shoebox in the closet, the bin in the garage. It's full of cables you don't recognize, phones that won't turn on, gadgets whose purpose you've forgotten. Nearly every household in the developed world has one. That single, specific, embarrassing drawer is where this entire global crisis begins.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average person owns several dead or obsolete devices at any time. We're conditioned — through planned obsolescence, software lock-outs, and repair barriers — to upgrade rather than fix. A new phone launches; the old one becomes slow, then unsupported, then worthless to us. The question isn't whether you threw it away — it's where 'away' actually goes. That's why we're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specific. Across the country — and disproportionately in lower-income neighborhoods and communities of color — improper e-waste disposal is a documented public-health hazard. Lead, mercury, cadmium, and brominated flame retardants leach from discarded electronics into soil and groundwater, causing neurological damage in children and contamination of local water supplies. It starts in the drawer; it ends in the groundwater.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to Repair is a growing legislative and grassroots movement: consumers and independent technicians should have the legal right to fix what they own — with access to parts, tools, and documentation. Manufacturers often use software locks, proprietary screws, and parts-pairing to block independent repair, forcing costly official repairs or replacement. By 2023, over 40 U.S. states had introduced repair legislation. Groups like iFixit, repair cafés, and tool libraries turn frustration into action — one repaired phone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According to the Global E-Waste Monitor 2020 — published by the United Nations University and co-authored by Forti, Baldé, Kuehr and Bel — 53.6 million metric tonnes of e-waste were generated globally in 2019 alone, the world's fastest-growing domestic waste stream. Only 17.4% was formally collected and recycled. The rest — over 44 million tonnes — was dumped, burned, or informally traded. The drawer from slide one exists in a billion homes, and almost none of it has a safe place to 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E-waste that leaves our homes doesn't vanish. Much of it — despite 'recycling' labels — is exported to developing nations with weaker enforcement. Agbogbloshie in Accra, Ghana is among the world's largest informal processing sites, where workers, many of them children, burn boards and cables to extract copper and gold, inhaling toxic fumes. Guiyu, China recorded groundwater lead levels far above safe limits. This is a system that exports its consequences to those least responsible for creating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the argument crystallizes. Right to Repair isn't merely consumer convenience — it's an environmental systems intervention. As local repair culture grows, aggregate demand for new devices falls. Falling demand pressures manufacturers to build longer-lasting, more repairable products. Less production means less mining of rare-earth minerals like cobalt and lithium — themselves humanitarian and ecological flashpoints — and less end-of-life waste flowing to Agbogbloshie or Guiyu. The local fix IS the global fix.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opened with a drawer overflowing with dead tech and tangled cables. Imagine it transformed — cables coiled and labeled, only a couple of working devices, a small repair kit in the corner. That transformation is the whole argument in miniature. The drawer in your home connects directly to a landfill down the road and a burning scrapyard across the world. Repair it, reuse it, and demand the right to fix what you own. The local fix is the global fix.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drawer.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754880"/>
            <a:ext cx="10058400" cy="1463040"/>
          </a:xfrm>
          <a:prstGeom prst="rect">
            <a:avLst/>
          </a:prstGeom>
          <a:noFill/>
        </p:spPr>
        <p:txBody>
          <a:bodyPr wrap="square" anchor="b" lIns="0" rIns="0" tIns="0" bIns="0">
            <a:spAutoFit/>
          </a:bodyPr>
          <a:lstStyle/>
          <a:p>
            <a:r>
              <a:rPr sz="4600" b="1" i="0" spc="200">
                <a:solidFill>
                  <a:srgbClr val="FFFFFF"/>
                </a:solidFill>
                <a:latin typeface="Montserrat ExtraBold"/>
              </a:rPr>
              <a:t>THE DRAWER WE ALL HAVE.</a:t>
            </a:r>
          </a:p>
          <a:p>
            <a:r>
              <a:rPr sz="1800" b="0" i="0">
                <a:solidFill>
                  <a:srgbClr val="F5A321"/>
                </a:solidFill>
                <a:latin typeface="IBM Plex Mono"/>
              </a:rPr>
              <a:t>you know which one._</a:t>
            </a:r>
          </a:p>
        </p:txBody>
      </p:sp>
      <p:sp>
        <p:nvSpPr>
          <p:cNvPr id="4" name="TextBox 3"/>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01</a:t>
            </a:r>
          </a:p>
        </p:txBody>
      </p:sp>
      <p:sp>
        <p:nvSpPr>
          <p:cNvPr id="5" name="TextBox 4"/>
          <p:cNvSpPr txBox="1"/>
          <p:nvPr/>
        </p:nvSpPr>
        <p:spPr>
          <a:xfrm>
            <a:off x="274320" y="6492240"/>
            <a:ext cx="9144000" cy="274320"/>
          </a:xfrm>
          <a:prstGeom prst="rect">
            <a:avLst/>
          </a:prstGeom>
          <a:noFill/>
        </p:spPr>
        <p:txBody>
          <a:bodyPr wrap="square" anchor="t" lIns="0" rIns="0" tIns="0" bIns="0">
            <a:spAutoFit/>
          </a:bodyPr>
          <a:lstStyle/>
          <a:p>
            <a:r>
              <a:rPr sz="700" b="0" i="0">
                <a:solidFill>
                  <a:srgbClr val="9A9790"/>
                </a:solidFill>
                <a:latin typeface="IBM Plex Mono"/>
              </a:rPr>
              <a:t>Image: EFTA00001374 - Cluttered workspace filled with electronic equipment cables and boxes on a workbench.jpg — Federal Bureau of Investigation / Public domain via Wikimedia Commons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circuit.jpg"/>
          <p:cNvPicPr>
            <a:picLocks noChangeAspect="1"/>
          </p:cNvPicPr>
          <p:nvPr/>
        </p:nvPicPr>
        <p:blipFill>
          <a:blip r:embed="rId2"/>
          <a:stretch>
            <a:fillRect/>
          </a:stretch>
        </p:blipFill>
        <p:spPr>
          <a:xfrm>
            <a:off x="0" y="0"/>
            <a:ext cx="6095847" cy="6858000"/>
          </a:xfrm>
          <a:prstGeom prst="rect">
            <a:avLst/>
          </a:prstGeom>
        </p:spPr>
      </p:pic>
      <p:pic>
        <p:nvPicPr>
          <p:cNvPr id="3" name="Picture 2" descr="drawer2.jpg"/>
          <p:cNvPicPr>
            <a:picLocks noChangeAspect="1"/>
          </p:cNvPicPr>
          <p:nvPr/>
        </p:nvPicPr>
        <p:blipFill>
          <a:blip r:embed="rId3"/>
          <a:stretch>
            <a:fillRect/>
          </a:stretch>
        </p:blipFill>
        <p:spPr>
          <a:xfrm>
            <a:off x="6095847" y="0"/>
            <a:ext cx="6095847" cy="6858000"/>
          </a:xfrm>
          <a:prstGeom prst="rect">
            <a:avLst/>
          </a:prstGeom>
        </p:spPr>
      </p:pic>
      <p:sp>
        <p:nvSpPr>
          <p:cNvPr id="4" name="Rectangle 3"/>
          <p:cNvSpPr/>
          <p:nvPr/>
        </p:nvSpPr>
        <p:spPr>
          <a:xfrm>
            <a:off x="6095847" y="0"/>
            <a:ext cx="6095847" cy="6858000"/>
          </a:xfrm>
          <a:prstGeom prst="rect">
            <a:avLst/>
          </a:prstGeom>
          <a:solidFill>
            <a:srgbClr val="121214">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035040" y="182880"/>
            <a:ext cx="5669280" cy="6400800"/>
          </a:xfrm>
          <a:prstGeom prst="bentConnector3">
            <a:avLst/>
          </a:prstGeom>
          <a:ln w="31750">
            <a:solidFill>
              <a:srgbClr val="F5A32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743200"/>
            <a:ext cx="10698480" cy="1371600"/>
          </a:xfrm>
          <a:prstGeom prst="rect">
            <a:avLst/>
          </a:prstGeom>
          <a:noFill/>
        </p:spPr>
        <p:txBody>
          <a:bodyPr wrap="square" anchor="ctr" lIns="0" rIns="0" tIns="0" bIns="0">
            <a:spAutoFit/>
          </a:bodyPr>
          <a:lstStyle/>
          <a:p>
            <a:pPr algn="ctr"/>
            <a:r>
              <a:rPr sz="3800" b="1" i="0" spc="150">
                <a:solidFill>
                  <a:srgbClr val="FFFFFF"/>
                </a:solidFill>
                <a:latin typeface="Montserrat ExtraBold"/>
              </a:rPr>
              <a:t>EVERY UPGRADE LEAVES SOMETHING BEHIND.</a:t>
            </a:r>
          </a:p>
        </p:txBody>
      </p:sp>
      <p:sp>
        <p:nvSpPr>
          <p:cNvPr id="7" name="TextBox 6"/>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landfill.jpg"/>
          <p:cNvPicPr>
            <a:picLocks noChangeAspect="1"/>
          </p:cNvPicPr>
          <p:nvPr/>
        </p:nvPicPr>
        <p:blipFill>
          <a:blip r:embed="rId2"/>
          <a:stretch>
            <a:fillRect/>
          </a:stretch>
        </p:blipFill>
        <p:spPr>
          <a:xfrm>
            <a:off x="4693616" y="0"/>
            <a:ext cx="7498079" cy="6858000"/>
          </a:xfrm>
          <a:prstGeom prst="rect">
            <a:avLst/>
          </a:prstGeom>
        </p:spPr>
      </p:pic>
      <p:sp>
        <p:nvSpPr>
          <p:cNvPr id="3" name="Rectangle 2"/>
          <p:cNvSpPr/>
          <p:nvPr/>
        </p:nvSpPr>
        <p:spPr>
          <a:xfrm>
            <a:off x="4684091" y="0"/>
            <a:ext cx="28575" cy="6858000"/>
          </a:xfrm>
          <a:prstGeom prst="rect">
            <a:avLst/>
          </a:prstGeom>
          <a:solidFill>
            <a:srgbClr val="F5A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502920" y="1097280"/>
            <a:ext cx="640080" cy="640080"/>
          </a:xfrm>
          <a:prstGeom prst="hexagon">
            <a:avLst/>
          </a:prstGeom>
          <a:noFill/>
          <a:ln w="25400">
            <a:solidFill>
              <a:srgbClr val="F5A3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011680"/>
            <a:ext cx="3840480" cy="2926080"/>
          </a:xfrm>
          <a:prstGeom prst="rect">
            <a:avLst/>
          </a:prstGeom>
          <a:noFill/>
        </p:spPr>
        <p:txBody>
          <a:bodyPr wrap="square" anchor="t" lIns="0" rIns="0" tIns="0" bIns="0">
            <a:spAutoFit/>
          </a:bodyPr>
          <a:lstStyle/>
          <a:p>
            <a:r>
              <a:rPr sz="3000" b="1" i="0" spc="120">
                <a:solidFill>
                  <a:srgbClr val="F0EDE6"/>
                </a:solidFill>
                <a:latin typeface="Montserrat ExtraBold"/>
              </a:rPr>
              <a:t>LOCAL LANDFILLS.</a:t>
            </a:r>
          </a:p>
          <a:p>
            <a:r>
              <a:rPr sz="3000" b="1" i="0" spc="120">
                <a:solidFill>
                  <a:srgbClr val="F0EDE6"/>
                </a:solidFill>
                <a:latin typeface="Montserrat ExtraBold"/>
              </a:rPr>
              <a:t>LOCAL TOXINS.</a:t>
            </a:r>
          </a:p>
          <a:p>
            <a:r>
              <a:rPr sz="3000" b="1" i="0" spc="120">
                <a:solidFill>
                  <a:srgbClr val="F5A321"/>
                </a:solidFill>
                <a:latin typeface="Montserrat ExtraBold"/>
              </a:rPr>
              <a:t>LOCAL CONSEQUENCES.</a:t>
            </a:r>
          </a:p>
          <a:p>
            <a:pPr>
              <a:spcBef>
                <a:spcPts val="1400"/>
              </a:spcBef>
            </a:pPr>
            <a:r>
              <a:rPr sz="1300" b="0" i="0">
                <a:solidFill>
                  <a:srgbClr val="3DBFB8"/>
                </a:solidFill>
                <a:latin typeface="IBM Plex Mono"/>
              </a:rPr>
              <a:t>lead · mercury · cadmium → soil &amp; groundwater</a:t>
            </a:r>
          </a:p>
        </p:txBody>
      </p:sp>
      <p:sp>
        <p:nvSpPr>
          <p:cNvPr id="6" name="TextBox 5"/>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03</a:t>
            </a:r>
          </a:p>
        </p:txBody>
      </p:sp>
      <p:sp>
        <p:nvSpPr>
          <p:cNvPr id="7" name="TextBox 6"/>
          <p:cNvSpPr txBox="1"/>
          <p:nvPr/>
        </p:nvSpPr>
        <p:spPr>
          <a:xfrm>
            <a:off x="274320" y="6492240"/>
            <a:ext cx="9144000" cy="274320"/>
          </a:xfrm>
          <a:prstGeom prst="rect">
            <a:avLst/>
          </a:prstGeom>
          <a:noFill/>
        </p:spPr>
        <p:txBody>
          <a:bodyPr wrap="square" anchor="t" lIns="0" rIns="0" tIns="0" bIns="0">
            <a:spAutoFit/>
          </a:bodyPr>
          <a:lstStyle/>
          <a:p>
            <a:r>
              <a:rPr sz="700" b="0" i="0">
                <a:solidFill>
                  <a:srgbClr val="9A9790"/>
                </a:solidFill>
                <a:latin typeface="IBM Plex Mono"/>
              </a:rPr>
              <a:t>Image: DFC 4508 A narrow pathway winds through a cluttered scrapyard piled high with discarded metal plastic pipes and other tangled debris.jpg — PattayaPatrol / CC BY-SA 4.0 via Wikimedia Commons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repair.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457200" y="548640"/>
            <a:ext cx="5852160" cy="3108960"/>
          </a:xfrm>
          <a:prstGeom prst="rect">
            <a:avLst/>
          </a:prstGeom>
          <a:solidFill>
            <a:srgbClr val="3DBFB8">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5303520" cy="2743200"/>
          </a:xfrm>
          <a:prstGeom prst="rect">
            <a:avLst/>
          </a:prstGeom>
          <a:noFill/>
        </p:spPr>
        <p:txBody>
          <a:bodyPr wrap="square" anchor="t" lIns="0" rIns="0" tIns="0" bIns="0">
            <a:spAutoFit/>
          </a:bodyPr>
          <a:lstStyle/>
          <a:p>
            <a:r>
              <a:rPr sz="3400" b="1" i="0" spc="120">
                <a:solidFill>
                  <a:srgbClr val="FFFFFF"/>
                </a:solidFill>
                <a:latin typeface="Montserrat ExtraBold"/>
              </a:rPr>
              <a:t>YOUR DEVICE.</a:t>
            </a:r>
          </a:p>
          <a:p>
            <a:r>
              <a:rPr sz="3400" b="1" i="0" spc="120">
                <a:solidFill>
                  <a:srgbClr val="FFFFFF"/>
                </a:solidFill>
                <a:latin typeface="Montserrat ExtraBold"/>
              </a:rPr>
              <a:t>YOUR CHOICE.</a:t>
            </a:r>
          </a:p>
          <a:p>
            <a:r>
              <a:rPr sz="3400" b="1" i="0" spc="120">
                <a:solidFill>
                  <a:srgbClr val="FFFFFF"/>
                </a:solidFill>
                <a:latin typeface="Montserrat ExtraBold"/>
              </a:rPr>
              <a:t>YOUR RIGHT.</a:t>
            </a:r>
          </a:p>
          <a:p>
            <a:pPr>
              <a:spcBef>
                <a:spcPts val="1200"/>
              </a:spcBef>
            </a:pPr>
            <a:r>
              <a:rPr sz="1400" b="0" i="0">
                <a:solidFill>
                  <a:srgbClr val="102A28"/>
                </a:solidFill>
                <a:latin typeface="IBM Plex Mono"/>
              </a:rPr>
              <a:t>the repair movement begins here.</a:t>
            </a:r>
          </a:p>
        </p:txBody>
      </p:sp>
      <p:sp>
        <p:nvSpPr>
          <p:cNvPr id="5" name="TextBox 4"/>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04</a:t>
            </a:r>
          </a:p>
        </p:txBody>
      </p:sp>
      <p:sp>
        <p:nvSpPr>
          <p:cNvPr id="6" name="TextBox 5"/>
          <p:cNvSpPr txBox="1"/>
          <p:nvPr/>
        </p:nvSpPr>
        <p:spPr>
          <a:xfrm>
            <a:off x="274320" y="6492240"/>
            <a:ext cx="9144000" cy="274320"/>
          </a:xfrm>
          <a:prstGeom prst="rect">
            <a:avLst/>
          </a:prstGeom>
          <a:noFill/>
        </p:spPr>
        <p:txBody>
          <a:bodyPr wrap="square" anchor="t" lIns="0" rIns="0" tIns="0" bIns="0">
            <a:spAutoFit/>
          </a:bodyPr>
          <a:lstStyle/>
          <a:p>
            <a:r>
              <a:rPr sz="700" b="0" i="0">
                <a:solidFill>
                  <a:srgbClr val="9A9790"/>
                </a:solidFill>
                <a:latin typeface="IBM Plex Mono"/>
              </a:rPr>
              <a:t>Image: Repair Lab (48115787881).jpg — Redaktion NdW / CC BY 2.0 via Wikimedia Commons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sp>
        <p:nvSpPr>
          <p:cNvPr id="2" name="TextBox 1"/>
          <p:cNvSpPr txBox="1"/>
          <p:nvPr/>
        </p:nvSpPr>
        <p:spPr>
          <a:xfrm>
            <a:off x="365760" y="640080"/>
            <a:ext cx="11521440" cy="2194560"/>
          </a:xfrm>
          <a:prstGeom prst="rect">
            <a:avLst/>
          </a:prstGeom>
          <a:noFill/>
        </p:spPr>
        <p:txBody>
          <a:bodyPr wrap="square" anchor="t" lIns="0" rIns="0" tIns="0" bIns="0">
            <a:spAutoFit/>
          </a:bodyPr>
          <a:lstStyle/>
          <a:p>
            <a:r>
              <a:rPr sz="15000" b="1" i="0" spc="80">
                <a:solidFill>
                  <a:srgbClr val="F5A321"/>
                </a:solidFill>
                <a:latin typeface="Montserrat ExtraBold"/>
              </a:rPr>
              <a:t>53.6M</a:t>
            </a:r>
          </a:p>
        </p:txBody>
      </p:sp>
      <p:sp>
        <p:nvSpPr>
          <p:cNvPr id="3" name="TextBox 2"/>
          <p:cNvSpPr txBox="1"/>
          <p:nvPr/>
        </p:nvSpPr>
        <p:spPr>
          <a:xfrm>
            <a:off x="457200" y="2743200"/>
            <a:ext cx="10972800" cy="548640"/>
          </a:xfrm>
          <a:prstGeom prst="rect">
            <a:avLst/>
          </a:prstGeom>
          <a:noFill/>
        </p:spPr>
        <p:txBody>
          <a:bodyPr wrap="square" anchor="t" lIns="0" rIns="0" tIns="0" bIns="0">
            <a:spAutoFit/>
          </a:bodyPr>
          <a:lstStyle/>
          <a:p>
            <a:r>
              <a:rPr sz="1600" b="0" i="0" spc="120">
                <a:solidFill>
                  <a:srgbClr val="F0EDE6"/>
                </a:solidFill>
                <a:latin typeface="IBM Plex Mono"/>
              </a:rPr>
              <a:t>METRIC TONNES OF E-WASTE GENERATED GLOBALLY (2019)</a:t>
            </a:r>
          </a:p>
        </p:txBody>
      </p:sp>
      <p:sp>
        <p:nvSpPr>
          <p:cNvPr id="4" name="Rectangle 3"/>
          <p:cNvSpPr/>
          <p:nvPr/>
        </p:nvSpPr>
        <p:spPr>
          <a:xfrm>
            <a:off x="548640" y="3931920"/>
            <a:ext cx="8412480" cy="502920"/>
          </a:xfrm>
          <a:prstGeom prst="rect">
            <a:avLst/>
          </a:prstGeom>
          <a:solidFill>
            <a:srgbClr val="F5A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98280" y="3931920"/>
            <a:ext cx="2743200" cy="502920"/>
          </a:xfrm>
          <a:prstGeom prst="rect">
            <a:avLst/>
          </a:prstGeom>
          <a:noFill/>
        </p:spPr>
        <p:txBody>
          <a:bodyPr wrap="square" anchor="ctr" lIns="0" rIns="0" tIns="0" bIns="0">
            <a:spAutoFit/>
          </a:bodyPr>
          <a:lstStyle/>
          <a:p>
            <a:r>
              <a:rPr sz="1200" b="0" i="0">
                <a:solidFill>
                  <a:srgbClr val="F5A321"/>
                </a:solidFill>
                <a:latin typeface="IBM Plex Mono"/>
              </a:rPr>
              <a:t>generated  53.6 Mt</a:t>
            </a:r>
          </a:p>
        </p:txBody>
      </p:sp>
      <p:sp>
        <p:nvSpPr>
          <p:cNvPr id="6" name="Rectangle 5"/>
          <p:cNvSpPr/>
          <p:nvPr/>
        </p:nvSpPr>
        <p:spPr>
          <a:xfrm>
            <a:off x="548640" y="4663440"/>
            <a:ext cx="1463771" cy="502920"/>
          </a:xfrm>
          <a:prstGeom prst="rect">
            <a:avLst/>
          </a:prstGeom>
          <a:solidFill>
            <a:srgbClr val="3DB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49571" y="4663440"/>
            <a:ext cx="5486400" cy="502920"/>
          </a:xfrm>
          <a:prstGeom prst="rect">
            <a:avLst/>
          </a:prstGeom>
          <a:noFill/>
        </p:spPr>
        <p:txBody>
          <a:bodyPr wrap="square" anchor="ctr" lIns="0" rIns="0" tIns="0" bIns="0">
            <a:spAutoFit/>
          </a:bodyPr>
          <a:lstStyle/>
          <a:p>
            <a:r>
              <a:rPr sz="1200" b="0" i="0">
                <a:solidFill>
                  <a:srgbClr val="3DBFB8"/>
                </a:solidFill>
                <a:latin typeface="IBM Plex Mono"/>
              </a:rPr>
              <a:t>formally recycled  only 17.4%</a:t>
            </a:r>
          </a:p>
        </p:txBody>
      </p:sp>
      <p:sp>
        <p:nvSpPr>
          <p:cNvPr id="8" name="Rounded Rectangle 7"/>
          <p:cNvSpPr/>
          <p:nvPr/>
        </p:nvSpPr>
        <p:spPr>
          <a:xfrm>
            <a:off x="8138160" y="5394960"/>
            <a:ext cx="3749039"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5504688"/>
            <a:ext cx="3383280" cy="914400"/>
          </a:xfrm>
          <a:prstGeom prst="rect">
            <a:avLst/>
          </a:prstGeom>
          <a:noFill/>
        </p:spPr>
        <p:txBody>
          <a:bodyPr wrap="square" anchor="t" lIns="0" rIns="0" tIns="0" bIns="0">
            <a:spAutoFit/>
          </a:bodyPr>
          <a:lstStyle/>
          <a:p>
            <a:r>
              <a:rPr sz="950" b="1" i="0">
                <a:solidFill>
                  <a:srgbClr val="1C1C1E"/>
                </a:solidFill>
                <a:latin typeface="IBM Plex Mono"/>
              </a:rPr>
              <a:t>SOURCE — Global E-Waste Monitor 2020</a:t>
            </a:r>
          </a:p>
          <a:p>
            <a:r>
              <a:rPr sz="900" b="0" i="0">
                <a:solidFill>
                  <a:srgbClr val="444446"/>
                </a:solidFill>
                <a:latin typeface="IBM Plex Mono"/>
              </a:rPr>
              <a:t>Forti, Baldé, Kuehr &amp; Bel</a:t>
            </a:r>
          </a:p>
          <a:p>
            <a:r>
              <a:rPr sz="900" b="0" i="0">
                <a:solidFill>
                  <a:srgbClr val="444446"/>
                </a:solidFill>
                <a:latin typeface="IBM Plex Mono"/>
              </a:rPr>
              <a:t>UNU/UNITAR-SCYCLE · ITU · ISWA</a:t>
            </a:r>
          </a:p>
        </p:txBody>
      </p:sp>
      <p:sp>
        <p:nvSpPr>
          <p:cNvPr id="10" name="TextBox 9"/>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agbo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502920"/>
            <a:ext cx="8686800" cy="1463040"/>
          </a:xfrm>
          <a:prstGeom prst="rect">
            <a:avLst/>
          </a:prstGeom>
          <a:noFill/>
        </p:spPr>
        <p:txBody>
          <a:bodyPr wrap="square" anchor="t" lIns="0" rIns="0" tIns="0" bIns="0">
            <a:spAutoFit/>
          </a:bodyPr>
          <a:lstStyle/>
          <a:p>
            <a:r>
              <a:rPr sz="4000" b="1" i="0" spc="120">
                <a:solidFill>
                  <a:srgbClr val="FFFFFF"/>
                </a:solidFill>
                <a:latin typeface="Montserrat ExtraBold"/>
              </a:rPr>
              <a:t>WHAT WE DISCARD,</a:t>
            </a:r>
          </a:p>
          <a:p>
            <a:r>
              <a:rPr sz="4000" b="1" i="0" spc="120">
                <a:solidFill>
                  <a:srgbClr val="F5A321"/>
                </a:solidFill>
                <a:latin typeface="Montserrat ExtraBold"/>
              </a:rPr>
              <a:t>OTHERS INHERIT.</a:t>
            </a:r>
          </a:p>
        </p:txBody>
      </p:sp>
      <p:sp>
        <p:nvSpPr>
          <p:cNvPr id="4" name="TextBox 3"/>
          <p:cNvSpPr txBox="1"/>
          <p:nvPr/>
        </p:nvSpPr>
        <p:spPr>
          <a:xfrm>
            <a:off x="548640" y="5852160"/>
            <a:ext cx="10058400" cy="457200"/>
          </a:xfrm>
          <a:prstGeom prst="rect">
            <a:avLst/>
          </a:prstGeom>
          <a:noFill/>
        </p:spPr>
        <p:txBody>
          <a:bodyPr wrap="square" anchor="t" lIns="0" rIns="0" tIns="0" bIns="0">
            <a:spAutoFit/>
          </a:bodyPr>
          <a:lstStyle/>
          <a:p>
            <a:r>
              <a:rPr sz="1300" b="0" i="0">
                <a:solidFill>
                  <a:srgbClr val="F0EDE6"/>
                </a:solidFill>
                <a:latin typeface="IBM Plex Mono"/>
              </a:rPr>
              <a:t>Agbogbloshie, GH  ·  Guiyu, CN  ·  New Delhi, IN  —  the world's e-waste sinks</a:t>
            </a:r>
          </a:p>
        </p:txBody>
      </p:sp>
      <p:sp>
        <p:nvSpPr>
          <p:cNvPr id="5" name="TextBox 4"/>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06</a:t>
            </a:r>
          </a:p>
        </p:txBody>
      </p:sp>
      <p:sp>
        <p:nvSpPr>
          <p:cNvPr id="6" name="TextBox 5"/>
          <p:cNvSpPr txBox="1"/>
          <p:nvPr/>
        </p:nvSpPr>
        <p:spPr>
          <a:xfrm>
            <a:off x="274320" y="6492240"/>
            <a:ext cx="9144000" cy="274320"/>
          </a:xfrm>
          <a:prstGeom prst="rect">
            <a:avLst/>
          </a:prstGeom>
          <a:noFill/>
        </p:spPr>
        <p:txBody>
          <a:bodyPr wrap="square" anchor="t" lIns="0" rIns="0" tIns="0" bIns="0">
            <a:spAutoFit/>
          </a:bodyPr>
          <a:lstStyle/>
          <a:p>
            <a:r>
              <a:rPr sz="700" b="0" i="0">
                <a:solidFill>
                  <a:srgbClr val="9A9790"/>
                </a:solidFill>
                <a:latin typeface="IBM Plex Mono"/>
              </a:rPr>
              <a:t>Image: Agbogbloshie, Ghana - September 2019.jpg — Muntaka Chasant / CC BY-SA 4.0 via Wikimedia Commons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drawer2.jpg"/>
          <p:cNvPicPr>
            <a:picLocks noChangeAspect="1"/>
          </p:cNvPicPr>
          <p:nvPr/>
        </p:nvPicPr>
        <p:blipFill>
          <a:blip r:embed="rId2"/>
          <a:stretch>
            <a:fillRect/>
          </a:stretch>
        </p:blipFill>
        <p:spPr>
          <a:xfrm>
            <a:off x="3124048" y="1554480"/>
            <a:ext cx="5943600" cy="3657600"/>
          </a:xfrm>
          <a:prstGeom prst="rect">
            <a:avLst/>
          </a:prstGeom>
        </p:spPr>
      </p:pic>
      <p:sp>
        <p:nvSpPr>
          <p:cNvPr id="3" name="Rectangle 2"/>
          <p:cNvSpPr/>
          <p:nvPr/>
        </p:nvSpPr>
        <p:spPr>
          <a:xfrm>
            <a:off x="0" y="0"/>
            <a:ext cx="12191695" cy="6858000"/>
          </a:xfrm>
          <a:prstGeom prst="rect">
            <a:avLst/>
          </a:prstGeom>
          <a:solidFill>
            <a:srgbClr val="1C1C1E">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822960"/>
          </a:xfrm>
          <a:prstGeom prst="rect">
            <a:avLst/>
          </a:prstGeom>
          <a:noFill/>
        </p:spPr>
        <p:txBody>
          <a:bodyPr wrap="square" anchor="t" lIns="0" rIns="0" tIns="0" bIns="0">
            <a:spAutoFit/>
          </a:bodyPr>
          <a:lstStyle/>
          <a:p>
            <a:r>
              <a:rPr sz="2600" b="1" i="0" spc="120">
                <a:solidFill>
                  <a:srgbClr val="FFFFFF"/>
                </a:solidFill>
                <a:latin typeface="Montserrat ExtraBold"/>
              </a:rPr>
              <a:t>ONE REPAIR.  ONE LESS DEVICE.  ONE LESS TON.</a:t>
            </a:r>
          </a:p>
        </p:txBody>
      </p:sp>
      <p:sp>
        <p:nvSpPr>
          <p:cNvPr id="5" name="Rounded Rectangle 4"/>
          <p:cNvSpPr/>
          <p:nvPr/>
        </p:nvSpPr>
        <p:spPr>
          <a:xfrm>
            <a:off x="4946904" y="1143000"/>
            <a:ext cx="2286000" cy="914400"/>
          </a:xfrm>
          <a:prstGeom prst="roundRect">
            <a:avLst/>
          </a:prstGeom>
          <a:solidFill>
            <a:srgbClr val="1C1C1E"/>
          </a:solidFill>
          <a:ln w="25400">
            <a:solidFill>
              <a:srgbClr val="3DBF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3DBFB8"/>
                </a:solidFill>
                <a:latin typeface="IBM Plex Mono"/>
              </a:rPr>
              <a:t>LOCAL REPAIR</a:t>
            </a:r>
          </a:p>
          <a:p>
            <a:pPr algn="ctr"/>
            <a:r>
              <a:rPr sz="1050" b="1" i="0">
                <a:solidFill>
                  <a:srgbClr val="3DBFB8"/>
                </a:solidFill>
                <a:latin typeface="IBM Plex Mono"/>
              </a:rPr>
              <a:t>CULTURE GROWS</a:t>
            </a:r>
          </a:p>
        </p:txBody>
      </p:sp>
      <p:sp>
        <p:nvSpPr>
          <p:cNvPr id="6" name="Rounded Rectangle 5"/>
          <p:cNvSpPr/>
          <p:nvPr/>
        </p:nvSpPr>
        <p:spPr>
          <a:xfrm>
            <a:off x="7077536" y="2690995"/>
            <a:ext cx="2286000" cy="914400"/>
          </a:xfrm>
          <a:prstGeom prst="roundRect">
            <a:avLst/>
          </a:prstGeom>
          <a:solidFill>
            <a:srgbClr val="1C1C1E"/>
          </a:solidFill>
          <a:ln w="25400">
            <a:solidFill>
              <a:srgbClr val="F5A3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5A321"/>
                </a:solidFill>
                <a:latin typeface="IBM Plex Mono"/>
              </a:rPr>
              <a:t>DEMAND FOR NEW</a:t>
            </a:r>
          </a:p>
          <a:p>
            <a:pPr algn="ctr"/>
            <a:r>
              <a:rPr sz="1050" b="1" i="0">
                <a:solidFill>
                  <a:srgbClr val="F5A321"/>
                </a:solidFill>
                <a:latin typeface="IBM Plex Mono"/>
              </a:rPr>
              <a:t>DEVICES DROPS</a:t>
            </a:r>
          </a:p>
        </p:txBody>
      </p:sp>
      <p:sp>
        <p:nvSpPr>
          <p:cNvPr id="7" name="Rounded Rectangle 6"/>
          <p:cNvSpPr/>
          <p:nvPr/>
        </p:nvSpPr>
        <p:spPr>
          <a:xfrm>
            <a:off x="6263707" y="5195704"/>
            <a:ext cx="2286000" cy="914400"/>
          </a:xfrm>
          <a:prstGeom prst="roundRect">
            <a:avLst/>
          </a:prstGeom>
          <a:solidFill>
            <a:srgbClr val="1C1C1E"/>
          </a:solidFill>
          <a:ln w="25400">
            <a:solidFill>
              <a:srgbClr val="F5A3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5A321"/>
                </a:solidFill>
                <a:latin typeface="IBM Plex Mono"/>
              </a:rPr>
              <a:t>MANUFACTURERS FACE</a:t>
            </a:r>
          </a:p>
          <a:p>
            <a:pPr algn="ctr"/>
            <a:r>
              <a:rPr sz="1050" b="1" i="0">
                <a:solidFill>
                  <a:srgbClr val="F5A321"/>
                </a:solidFill>
                <a:latin typeface="IBM Plex Mono"/>
              </a:rPr>
              <a:t>MARKET PRESSURE</a:t>
            </a:r>
          </a:p>
        </p:txBody>
      </p:sp>
      <p:sp>
        <p:nvSpPr>
          <p:cNvPr id="8" name="Rounded Rectangle 7"/>
          <p:cNvSpPr/>
          <p:nvPr/>
        </p:nvSpPr>
        <p:spPr>
          <a:xfrm>
            <a:off x="3630100" y="5195704"/>
            <a:ext cx="2286000" cy="914400"/>
          </a:xfrm>
          <a:prstGeom prst="roundRect">
            <a:avLst/>
          </a:prstGeom>
          <a:solidFill>
            <a:srgbClr val="1C1C1E"/>
          </a:solidFill>
          <a:ln w="25400">
            <a:solidFill>
              <a:srgbClr val="3DBF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3DBFB8"/>
                </a:solidFill>
                <a:latin typeface="IBM Plex Mono"/>
              </a:rPr>
              <a:t>PRODUCTION &amp;</a:t>
            </a:r>
          </a:p>
          <a:p>
            <a:pPr algn="ctr"/>
            <a:r>
              <a:rPr sz="1050" b="1" i="0">
                <a:solidFill>
                  <a:srgbClr val="3DBFB8"/>
                </a:solidFill>
                <a:latin typeface="IBM Plex Mono"/>
              </a:rPr>
              <a:t>MINING DECREASE</a:t>
            </a:r>
          </a:p>
        </p:txBody>
      </p:sp>
      <p:sp>
        <p:nvSpPr>
          <p:cNvPr id="9" name="Rounded Rectangle 8"/>
          <p:cNvSpPr/>
          <p:nvPr/>
        </p:nvSpPr>
        <p:spPr>
          <a:xfrm>
            <a:off x="2816271" y="2690995"/>
            <a:ext cx="2286000" cy="914400"/>
          </a:xfrm>
          <a:prstGeom prst="roundRect">
            <a:avLst/>
          </a:prstGeom>
          <a:solidFill>
            <a:srgbClr val="1C1C1E"/>
          </a:solidFill>
          <a:ln w="25400">
            <a:solidFill>
              <a:srgbClr val="3DBF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3DBFB8"/>
                </a:solidFill>
                <a:latin typeface="IBM Plex Mono"/>
              </a:rPr>
              <a:t>GLOBAL E-WASTE</a:t>
            </a:r>
          </a:p>
          <a:p>
            <a:pPr algn="ctr"/>
            <a:r>
              <a:rPr sz="1050" b="1" i="0">
                <a:solidFill>
                  <a:srgbClr val="3DBFB8"/>
                </a:solidFill>
                <a:latin typeface="IBM Plex Mono"/>
              </a:rPr>
              <a:t>LOAD REDUCED</a:t>
            </a:r>
          </a:p>
        </p:txBody>
      </p:sp>
      <p:cxnSp>
        <p:nvCxnSpPr>
          <p:cNvPr id="10" name="Connector 9"/>
          <p:cNvCxnSpPr/>
          <p:nvPr/>
        </p:nvCxnSpPr>
        <p:spPr>
          <a:xfrm>
            <a:off x="6089904" y="1600200"/>
            <a:ext cx="2130632" cy="1547995"/>
          </a:xfrm>
          <a:prstGeom prst="bentConnector3">
            <a:avLst/>
          </a:prstGeom>
          <a:ln w="22225">
            <a:solidFill>
              <a:srgbClr val="F5A32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406707" y="3148195"/>
            <a:ext cx="813829" cy="2504709"/>
          </a:xfrm>
          <a:prstGeom prst="bentConnector3">
            <a:avLst/>
          </a:prstGeom>
          <a:ln w="22225">
            <a:solidFill>
              <a:srgbClr val="F5A32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773100" y="5652904"/>
            <a:ext cx="2633607" cy="0"/>
          </a:xfrm>
          <a:prstGeom prst="bentConnector3">
            <a:avLst/>
          </a:prstGeom>
          <a:ln w="22225">
            <a:solidFill>
              <a:srgbClr val="F5A32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959271" y="3148195"/>
            <a:ext cx="813829" cy="2504709"/>
          </a:xfrm>
          <a:prstGeom prst="bentConnector3">
            <a:avLst/>
          </a:prstGeom>
          <a:ln w="22225">
            <a:solidFill>
              <a:srgbClr val="F5A32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959271" y="1600200"/>
            <a:ext cx="2130633" cy="1547995"/>
          </a:xfrm>
          <a:prstGeom prst="bentConnector3">
            <a:avLst/>
          </a:prstGeom>
          <a:ln w="22225">
            <a:solidFill>
              <a:srgbClr val="F5A32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95360" y="6309360"/>
            <a:ext cx="3474720" cy="365760"/>
          </a:xfrm>
          <a:prstGeom prst="rect">
            <a:avLst/>
          </a:prstGeom>
          <a:noFill/>
        </p:spPr>
        <p:txBody>
          <a:bodyPr wrap="square" anchor="t" lIns="0" rIns="0" tIns="0" bIns="0">
            <a:spAutoFit/>
          </a:bodyPr>
          <a:lstStyle/>
          <a:p>
            <a:pPr algn="r"/>
            <a:r>
              <a:rPr sz="1100" b="0" i="0">
                <a:solidFill>
                  <a:srgbClr val="F0EDE6"/>
                </a:solidFill>
                <a:latin typeface="IBM Plex Mono"/>
              </a:rPr>
              <a:t>individual action → systemic change</a:t>
            </a:r>
          </a:p>
        </p:txBody>
      </p:sp>
      <p:sp>
        <p:nvSpPr>
          <p:cNvPr id="16" name="TextBox 15"/>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C1E"/>
        </a:solidFill>
        <a:effectLst/>
      </p:bgPr>
    </p:bg>
    <p:spTree>
      <p:nvGrpSpPr>
        <p:cNvPr id="1" name=""/>
        <p:cNvGrpSpPr/>
        <p:nvPr/>
      </p:nvGrpSpPr>
      <p:grpSpPr/>
      <p:pic>
        <p:nvPicPr>
          <p:cNvPr id="2" name="Picture 1" descr="drawer2.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3DBFB8">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06240"/>
            <a:ext cx="12191695" cy="2651760"/>
          </a:xfrm>
          <a:prstGeom prst="rect">
            <a:avLst/>
          </a:prstGeom>
          <a:solidFill>
            <a:srgbClr val="101414">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389120"/>
            <a:ext cx="10972800" cy="2011680"/>
          </a:xfrm>
          <a:prstGeom prst="rect">
            <a:avLst/>
          </a:prstGeom>
          <a:noFill/>
        </p:spPr>
        <p:txBody>
          <a:bodyPr wrap="square" anchor="t" lIns="0" rIns="0" tIns="0" bIns="0">
            <a:spAutoFit/>
          </a:bodyPr>
          <a:lstStyle/>
          <a:p>
            <a:r>
              <a:rPr sz="4400" b="1" i="0" spc="160">
                <a:solidFill>
                  <a:srgbClr val="FFFFFF"/>
                </a:solidFill>
                <a:latin typeface="Montserrat ExtraBold"/>
              </a:rPr>
              <a:t>REIMAGINE THE DRAWER.</a:t>
            </a:r>
          </a:p>
          <a:p>
            <a:pPr>
              <a:spcBef>
                <a:spcPts val="800"/>
              </a:spcBef>
            </a:pPr>
            <a:r>
              <a:rPr sz="1800" b="0" i="0">
                <a:solidFill>
                  <a:srgbClr val="3DBFB8"/>
                </a:solidFill>
                <a:latin typeface="IBM Plex Mono"/>
              </a:rPr>
              <a:t>Repair. Reuse. Demand the right to.</a:t>
            </a:r>
          </a:p>
          <a:p>
            <a:pPr>
              <a:spcBef>
                <a:spcPts val="600"/>
              </a:spcBef>
            </a:pPr>
            <a:r>
              <a:rPr sz="1500" b="0" i="0">
                <a:solidFill>
                  <a:srgbClr val="F0EDE6"/>
                </a:solidFill>
                <a:latin typeface="IBM Plex Mono"/>
              </a:rPr>
              <a:t>The local fix is the global fix._</a:t>
            </a:r>
          </a:p>
        </p:txBody>
      </p:sp>
      <p:sp>
        <p:nvSpPr>
          <p:cNvPr id="6" name="TextBox 5"/>
          <p:cNvSpPr txBox="1"/>
          <p:nvPr/>
        </p:nvSpPr>
        <p:spPr>
          <a:xfrm>
            <a:off x="11277295" y="6400800"/>
            <a:ext cx="731520" cy="320040"/>
          </a:xfrm>
          <a:prstGeom prst="rect">
            <a:avLst/>
          </a:prstGeom>
          <a:noFill/>
        </p:spPr>
        <p:txBody>
          <a:bodyPr wrap="square" anchor="t" lIns="0" rIns="0" tIns="0" bIns="0">
            <a:spAutoFit/>
          </a:bodyPr>
          <a:lstStyle/>
          <a:p>
            <a:pPr algn="r"/>
            <a:r>
              <a:rPr sz="1100" b="0" i="0">
                <a:solidFill>
                  <a:srgbClr val="F5A321"/>
                </a:solidFill>
                <a:latin typeface="IBM Plex Mono"/>
              </a:rPr>
              <a:t>08</a:t>
            </a:r>
          </a:p>
        </p:txBody>
      </p:sp>
      <p:sp>
        <p:nvSpPr>
          <p:cNvPr id="7" name="TextBox 6"/>
          <p:cNvSpPr txBox="1"/>
          <p:nvPr/>
        </p:nvSpPr>
        <p:spPr>
          <a:xfrm>
            <a:off x="274320" y="6492240"/>
            <a:ext cx="9144000" cy="274320"/>
          </a:xfrm>
          <a:prstGeom prst="rect">
            <a:avLst/>
          </a:prstGeom>
          <a:noFill/>
        </p:spPr>
        <p:txBody>
          <a:bodyPr wrap="square" anchor="t" lIns="0" rIns="0" tIns="0" bIns="0">
            <a:spAutoFit/>
          </a:bodyPr>
          <a:lstStyle/>
          <a:p>
            <a:r>
              <a:rPr sz="700" b="0" i="0">
                <a:solidFill>
                  <a:srgbClr val="9A9790"/>
                </a:solidFill>
                <a:latin typeface="IBM Plex Mono"/>
              </a:rPr>
              <a:t>Image: EFTA00001374 - Cluttered workspace filled with electronic equipment cables and boxes on a workbench.jpg — Federal Bureau of Investigation / Public domain via Wikimedia Commons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